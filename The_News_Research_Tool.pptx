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5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 spc="120">
                <a:solidFill>
                  <a:srgbClr val="9A2323"/>
                </a:solidFill>
                <a:latin typeface="Consolas"/>
              </a:rPr>
              <a:t>PROJECT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24028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5400" b="1" i="0">
                <a:solidFill>
                  <a:srgbClr val="1A1A1A"/>
                </a:solidFill>
                <a:latin typeface="Georgia"/>
              </a:rPr>
              <a:t>The News Research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29000"/>
            <a:ext cx="8686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700" b="0" i="0">
                <a:solidFill>
                  <a:srgbClr val="5B584F"/>
                </a:solidFill>
                <a:latin typeface="Calibri"/>
              </a:rPr>
              <a:t>A multi-source news intelligence platform — from a four-file LangChain tutorial to a full ingestion, deduplication, NLP, and analytics pipeline.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519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 i="0">
                <a:solidFill>
                  <a:srgbClr val="5B584F"/>
                </a:solidFill>
                <a:latin typeface="Consolas"/>
              </a:rPr>
              <a:t>Streamlit · LangChain + Groq     5,400+ lines of Python     161 automated tests     4 news providers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8B8778"/>
                </a:solidFill>
                <a:latin typeface="Consolas"/>
              </a:rPr>
              <a:t>01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40080" y="384048"/>
            <a:ext cx="10911535" cy="0"/>
          </a:xfrm>
          <a:prstGeom prst="line">
            <a:avLst/>
          </a:prstGeom>
          <a:ln w="1905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1280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 spc="90">
                <a:solidFill>
                  <a:srgbClr val="5B584F"/>
                </a:solidFill>
                <a:latin typeface="Consolas"/>
              </a:rPr>
              <a:t>THE NEWS RESEARCH TOOL — PROJECT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12801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spc="90">
                <a:solidFill>
                  <a:srgbClr val="9A2323"/>
                </a:solidFill>
                <a:latin typeface="Consolas"/>
              </a:rPr>
              <a:t>ORIGIN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 spc="120">
                <a:solidFill>
                  <a:srgbClr val="9A2323"/>
                </a:solidFill>
                <a:latin typeface="Consolas"/>
              </a:rPr>
              <a:t>01 — THE ORIGIN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91440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A1A1A"/>
                </a:solidFill>
                <a:latin typeface="Georgia"/>
              </a:rPr>
              <a:t>The brief was four files and one button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00" b="0" i="0">
                <a:solidFill>
                  <a:srgbClr val="5B584F"/>
                </a:solidFill>
                <a:latin typeface="Calibri"/>
              </a:rPr>
              <a:t>The project started from a guided tutorial spec: install three libraries, wire an LLM to a news API, put a text box and a button in front of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512064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50" b="0" i="0">
                <a:solidFill>
                  <a:srgbClr val="9A2323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Phase 1–2</a:t>
            </a:r>
            <a:r>
              <a:rPr sz="1350" b="0" i="0">
                <a:solidFill>
                  <a:srgbClr val="5B584F"/>
                </a:solidFill>
                <a:latin typeface="Calibri"/>
              </a:rPr>
              <a:t>  — install LangChain, OpenAI, Streamlit, NewsAPI; write langchain_config.py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50" b="0" i="0">
                <a:solidFill>
                  <a:srgbClr val="9A2323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Phase 3–4</a:t>
            </a:r>
            <a:r>
              <a:rPr sz="1350" b="0" i="0">
                <a:solidFill>
                  <a:srgbClr val="5B584F"/>
                </a:solidFill>
                <a:latin typeface="Calibri"/>
              </a:rPr>
              <a:t>  — a Streamlit query box; fetch articles, join their descriptions, summarize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50" b="0" i="0">
                <a:solidFill>
                  <a:srgbClr val="9A2323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Phase 5–7</a:t>
            </a:r>
            <a:r>
              <a:rPr sz="1350" b="0" i="0">
                <a:solidFill>
                  <a:srgbClr val="5B584F"/>
                </a:solidFill>
                <a:latin typeface="Calibri"/>
              </a:rPr>
              <a:t>  — manual testing, a README, and three optional stretch goals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74519"/>
            <a:ext cx="5212080" cy="2377440"/>
          </a:xfrm>
          <a:prstGeom prst="roundRect">
            <a:avLst>
              <a:gd name="adj" fmla="val 4000"/>
            </a:avLst>
          </a:prstGeom>
          <a:solidFill>
            <a:srgbClr val="F2EFE7"/>
          </a:solidFill>
          <a:ln w="12700">
            <a:solidFill>
              <a:srgbClr val="E7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2002535"/>
            <a:ext cx="4846320" cy="2121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250" b="0" i="0">
                <a:solidFill>
                  <a:srgbClr val="1A1A1A"/>
                </a:solidFill>
                <a:latin typeface="Consolas"/>
              </a:rPr>
              <a:t>from langchain import OpenAI, LLMChain, PromptTemplate</a:t>
            </a:r>
          </a:p>
          <a:p>
            <a:pPr>
              <a:lnSpc>
                <a:spcPct val="150000"/>
              </a:lnSpc>
            </a:pPr>
            <a:endParaRPr sz="1250" b="0" i="0">
              <a:solidFill>
                <a:srgbClr val="1A1A1A"/>
              </a:solidFill>
              <a:latin typeface="Consolas"/>
            </a:endParaRPr>
          </a:p>
          <a:p>
            <a:pPr>
              <a:lnSpc>
                <a:spcPct val="150000"/>
              </a:lnSpc>
            </a:pPr>
            <a:r>
              <a:rPr sz="1250" b="0" i="0">
                <a:solidFill>
                  <a:srgbClr val="1A1A1A"/>
                </a:solidFill>
                <a:latin typeface="Consolas"/>
              </a:rPr>
              <a:t>template = """</a:t>
            </a:r>
          </a:p>
          <a:p>
            <a:pPr>
              <a:lnSpc>
                <a:spcPct val="150000"/>
              </a:lnSpc>
            </a:pPr>
            <a:r>
              <a:rPr sz="1250" b="0" i="0">
                <a:solidFill>
                  <a:srgbClr val="1A1A1A"/>
                </a:solidFill>
                <a:latin typeface="Consolas"/>
              </a:rPr>
              <a:t>You are an AI assistant helping</a:t>
            </a:r>
          </a:p>
          <a:p>
            <a:pPr>
              <a:lnSpc>
                <a:spcPct val="150000"/>
              </a:lnSpc>
            </a:pPr>
            <a:r>
              <a:rPr sz="1250" b="0" i="0">
                <a:solidFill>
                  <a:srgbClr val="1A1A1A"/>
                </a:solidFill>
                <a:latin typeface="Consolas"/>
              </a:rPr>
              <a:t>an equity research analyst...</a:t>
            </a:r>
          </a:p>
          <a:p>
            <a:pPr>
              <a:lnSpc>
                <a:spcPct val="150000"/>
              </a:lnSpc>
            </a:pPr>
            <a:r>
              <a:rPr sz="1250" b="0" i="0">
                <a:solidFill>
                  <a:srgbClr val="1A1A1A"/>
                </a:solidFill>
                <a:latin typeface="Consolas"/>
              </a:rPr>
              <a:t>"""</a:t>
            </a:r>
          </a:p>
          <a:p>
            <a:pPr>
              <a:lnSpc>
                <a:spcPct val="150000"/>
              </a:lnSpc>
            </a:pPr>
            <a:endParaRPr sz="1250" b="0" i="0">
              <a:solidFill>
                <a:srgbClr val="1A1A1A"/>
              </a:solidFill>
              <a:latin typeface="Consolas"/>
            </a:endParaRPr>
          </a:p>
          <a:p>
            <a:pPr>
              <a:lnSpc>
                <a:spcPct val="150000"/>
              </a:lnSpc>
            </a:pPr>
            <a:r>
              <a:rPr sz="1250" b="0" i="0">
                <a:solidFill>
                  <a:srgbClr val="1A1A1A"/>
                </a:solidFill>
                <a:latin typeface="Consolas"/>
              </a:rPr>
              <a:t># one query in, one summary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8B8778"/>
                </a:solidFill>
                <a:latin typeface="Consolas"/>
              </a:rP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40080" y="384048"/>
            <a:ext cx="10911535" cy="0"/>
          </a:xfrm>
          <a:prstGeom prst="line">
            <a:avLst/>
          </a:prstGeom>
          <a:ln w="1905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1280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 spc="90">
                <a:solidFill>
                  <a:srgbClr val="5B584F"/>
                </a:solidFill>
                <a:latin typeface="Consolas"/>
              </a:rPr>
              <a:t>THE NEWS RESEARCH TOOL — PROJECT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12801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spc="90">
                <a:solidFill>
                  <a:srgbClr val="9A2323"/>
                </a:solidFill>
                <a:latin typeface="Consolas"/>
              </a:rPr>
              <a:t>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 spc="120">
                <a:solidFill>
                  <a:srgbClr val="9A2323"/>
                </a:solidFill>
                <a:latin typeface="Consolas"/>
              </a:rPr>
              <a:t>02 — THE EVOLUTION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A1A1A"/>
                </a:solidFill>
                <a:latin typeface="Georgia"/>
              </a:rPr>
              <a:t>What it became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i="0" spc="80">
                <a:solidFill>
                  <a:srgbClr val="8B8778"/>
                </a:solidFill>
                <a:latin typeface="Consolas"/>
              </a:rPr>
              <a:t>THE 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512064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50" b="0" i="0">
                <a:solidFill>
                  <a:srgbClr val="9A2323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1 provider</a:t>
            </a:r>
            <a:r>
              <a:rPr sz="1350" b="0" i="0">
                <a:solidFill>
                  <a:srgbClr val="5B584F"/>
                </a:solidFill>
                <a:latin typeface="Calibri"/>
              </a:rPr>
              <a:t>  — NewsAPI only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50" b="0" i="0">
                <a:solidFill>
                  <a:srgbClr val="9A2323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1 script</a:t>
            </a:r>
            <a:r>
              <a:rPr sz="1350" b="0" i="0">
                <a:solidFill>
                  <a:srgbClr val="5B584F"/>
                </a:solidFill>
                <a:latin typeface="Calibri"/>
              </a:rPr>
              <a:t>  — fetch, join, summarize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50" b="0" i="0">
                <a:solidFill>
                  <a:srgbClr val="9A2323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0 tests</a:t>
            </a:r>
            <a:r>
              <a:rPr sz="1350" b="0" i="0">
                <a:solidFill>
                  <a:srgbClr val="5B584F"/>
                </a:solidFill>
                <a:latin typeface="Calibri"/>
              </a:rPr>
              <a:t>  — run it and look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50" b="0" i="0">
                <a:solidFill>
                  <a:srgbClr val="9A2323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1 screen</a:t>
            </a:r>
            <a:r>
              <a:rPr sz="1350" b="0" i="0">
                <a:solidFill>
                  <a:srgbClr val="5B584F"/>
                </a:solidFill>
                <a:latin typeface="Calibri"/>
              </a:rPr>
              <a:t>  — query box,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9659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i="0" spc="80">
                <a:solidFill>
                  <a:srgbClr val="9A2323"/>
                </a:solidFill>
                <a:latin typeface="Consolas"/>
              </a:rPr>
              <a:t>WHAT SHIPPED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377440"/>
            <a:ext cx="512064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50" b="0" i="0">
                <a:solidFill>
                  <a:srgbClr val="9A2323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4 providers</a:t>
            </a:r>
            <a:r>
              <a:rPr sz="1350" b="0" i="0">
                <a:solidFill>
                  <a:srgbClr val="5B584F"/>
                </a:solidFill>
                <a:latin typeface="Calibri"/>
              </a:rPr>
              <a:t>  — with failover, retry, dedup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50" b="0" i="0">
                <a:solidFill>
                  <a:srgbClr val="9A2323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providers/ pipeline/</a:t>
            </a:r>
            <a:r>
              <a:rPr sz="1350" b="0" i="0">
                <a:solidFill>
                  <a:srgbClr val="5B584F"/>
                </a:solidFill>
                <a:latin typeface="Calibri"/>
              </a:rPr>
              <a:t>  tests/ docs/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50" b="0" i="0">
                <a:solidFill>
                  <a:srgbClr val="9A2323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161 tests</a:t>
            </a:r>
            <a:r>
              <a:rPr sz="1350" b="0" i="0">
                <a:solidFill>
                  <a:srgbClr val="5B584F"/>
                </a:solidFill>
                <a:latin typeface="Calibri"/>
              </a:rPr>
              <a:t>  — mocked, isolated, CI-ready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50" b="0" i="0">
                <a:solidFill>
                  <a:srgbClr val="9A2323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6 sections</a:t>
            </a:r>
            <a:r>
              <a:rPr sz="1350" b="0" i="0">
                <a:solidFill>
                  <a:srgbClr val="5B584F"/>
                </a:solidFill>
                <a:latin typeface="Calibri"/>
              </a:rPr>
              <a:t>  — Home to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8B8778"/>
                </a:solidFill>
                <a:latin typeface="Consolas"/>
              </a:rP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40080" y="384048"/>
            <a:ext cx="10911535" cy="0"/>
          </a:xfrm>
          <a:prstGeom prst="line">
            <a:avLst/>
          </a:prstGeom>
          <a:ln w="1905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1280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 spc="90">
                <a:solidFill>
                  <a:srgbClr val="5B584F"/>
                </a:solidFill>
                <a:latin typeface="Consolas"/>
              </a:rPr>
              <a:t>THE NEWS RESEARCH TOOL — PROJECT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12801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spc="90">
                <a:solidFill>
                  <a:srgbClr val="9A2323"/>
                </a:solidFill>
                <a:latin typeface="Consolas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 spc="120">
                <a:solidFill>
                  <a:srgbClr val="9A2323"/>
                </a:solidFill>
                <a:latin typeface="Consolas"/>
              </a:rPr>
              <a:t>03 — THE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A1A1A"/>
                </a:solidFill>
                <a:latin typeface="Georgia"/>
              </a:rPr>
              <a:t>Six sections, one feed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502152" cy="1737360"/>
          </a:xfrm>
          <a:prstGeom prst="roundRect">
            <a:avLst>
              <a:gd name="adj" fmla="val 6000"/>
            </a:avLst>
          </a:prstGeom>
          <a:solidFill>
            <a:srgbClr val="F2EFE7"/>
          </a:solidFill>
          <a:ln w="12700">
            <a:solidFill>
              <a:srgbClr val="E7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276856"/>
            <a:ext cx="3172968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 spc="60">
                <a:solidFill>
                  <a:srgbClr val="9A2323"/>
                </a:solidFill>
                <a:latin typeface="Consolas"/>
              </a:rPr>
              <a:t>HOME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Front page</a:t>
            </a:r>
          </a:p>
          <a:p>
            <a:pPr>
              <a:lnSpc>
                <a:spcPct val="130000"/>
              </a:lnSpc>
            </a:pPr>
            <a:r>
              <a:rPr sz="1150" b="0" i="0">
                <a:solidFill>
                  <a:srgbClr val="5B584F"/>
                </a:solidFill>
                <a:latin typeface="Calibri"/>
              </a:rPr>
              <a:t>Hero story by quality score, a ranked grid beneath it, trending highlights.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148840"/>
            <a:ext cx="3502152" cy="1737360"/>
          </a:xfrm>
          <a:prstGeom prst="roundRect">
            <a:avLst>
              <a:gd name="adj" fmla="val 6000"/>
            </a:avLst>
          </a:prstGeom>
          <a:solidFill>
            <a:srgbClr val="F2EFE7"/>
          </a:solidFill>
          <a:ln w="12700">
            <a:solidFill>
              <a:srgbClr val="E7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5424" y="2276856"/>
            <a:ext cx="3172968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 spc="60">
                <a:solidFill>
                  <a:srgbClr val="9A2323"/>
                </a:solidFill>
                <a:latin typeface="Consolas"/>
              </a:rPr>
              <a:t>SEARCH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Ask a question</a:t>
            </a:r>
          </a:p>
          <a:p>
            <a:pPr>
              <a:lnSpc>
                <a:spcPct val="130000"/>
              </a:lnSpc>
            </a:pPr>
            <a:r>
              <a:rPr sz="1150" b="0" i="0">
                <a:solidFill>
                  <a:srgbClr val="5B584F"/>
                </a:solidFill>
                <a:latin typeface="Calibri"/>
              </a:rPr>
              <a:t>A query becomes a live, deduplicated multi-source summary via Groq.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2148840"/>
            <a:ext cx="3502152" cy="1737360"/>
          </a:xfrm>
          <a:prstGeom prst="roundRect">
            <a:avLst>
              <a:gd name="adj" fmla="val 6000"/>
            </a:avLst>
          </a:prstGeom>
          <a:solidFill>
            <a:srgbClr val="F2EFE7"/>
          </a:solidFill>
          <a:ln w="12700">
            <a:solidFill>
              <a:srgbClr val="E7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66176" y="2276856"/>
            <a:ext cx="3172968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 spc="60">
                <a:solidFill>
                  <a:srgbClr val="9A2323"/>
                </a:solidFill>
                <a:latin typeface="Consolas"/>
              </a:rPr>
              <a:t>LATEST STORIES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Full corpus</a:t>
            </a:r>
          </a:p>
          <a:p>
            <a:pPr>
              <a:lnSpc>
                <a:spcPct val="130000"/>
              </a:lnSpc>
            </a:pPr>
            <a:r>
              <a:rPr sz="1150" b="0" i="0">
                <a:solidFill>
                  <a:srgbClr val="5B584F"/>
                </a:solidFill>
                <a:latin typeface="Calibri"/>
              </a:rPr>
              <a:t>Filter by category, sentiment, source, date; export to CSV or JSON.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3502152" cy="1737360"/>
          </a:xfrm>
          <a:prstGeom prst="roundRect">
            <a:avLst>
              <a:gd name="adj" fmla="val 6000"/>
            </a:avLst>
          </a:prstGeom>
          <a:solidFill>
            <a:srgbClr val="F2EFE7"/>
          </a:solidFill>
          <a:ln w="12700">
            <a:solidFill>
              <a:srgbClr val="E7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4242816"/>
            <a:ext cx="3172968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 spc="60">
                <a:solidFill>
                  <a:srgbClr val="9A2323"/>
                </a:solidFill>
                <a:latin typeface="Consolas"/>
              </a:rPr>
              <a:t>SAVED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Bookmarks</a:t>
            </a:r>
          </a:p>
          <a:p>
            <a:pPr>
              <a:lnSpc>
                <a:spcPct val="130000"/>
              </a:lnSpc>
            </a:pPr>
            <a:r>
              <a:rPr sz="1150" b="0" i="0">
                <a:solidFill>
                  <a:srgbClr val="5B584F"/>
                </a:solidFill>
                <a:latin typeface="Calibri"/>
              </a:rPr>
              <a:t>Star a story, it persists locally — no login for a single-user tool.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4114800"/>
            <a:ext cx="3502152" cy="1737360"/>
          </a:xfrm>
          <a:prstGeom prst="roundRect">
            <a:avLst>
              <a:gd name="adj" fmla="val 6000"/>
            </a:avLst>
          </a:prstGeom>
          <a:solidFill>
            <a:srgbClr val="F2EFE7"/>
          </a:solidFill>
          <a:ln w="12700">
            <a:solidFill>
              <a:srgbClr val="E7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5424" y="4242816"/>
            <a:ext cx="3172968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 spc="60">
                <a:solidFill>
                  <a:srgbClr val="9A2323"/>
                </a:solidFill>
                <a:latin typeface="Consolas"/>
              </a:rPr>
              <a:t>TRENDING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Real momentum</a:t>
            </a:r>
          </a:p>
          <a:p>
            <a:pPr>
              <a:lnSpc>
                <a:spcPct val="130000"/>
              </a:lnSpc>
            </a:pPr>
            <a:r>
              <a:rPr sz="1150" b="0" i="0">
                <a:solidFill>
                  <a:srgbClr val="5B584F"/>
                </a:solidFill>
                <a:latin typeface="Calibri"/>
              </a:rPr>
              <a:t>Ranked by growth, volume, recency, source diversity — not raw counts.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4" y="4114800"/>
            <a:ext cx="3502152" cy="1737360"/>
          </a:xfrm>
          <a:prstGeom prst="roundRect">
            <a:avLst>
              <a:gd name="adj" fmla="val 6000"/>
            </a:avLst>
          </a:prstGeom>
          <a:solidFill>
            <a:srgbClr val="F2EFE7"/>
          </a:solidFill>
          <a:ln w="12700">
            <a:solidFill>
              <a:srgbClr val="E7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66176" y="4242816"/>
            <a:ext cx="3172968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 spc="60">
                <a:solidFill>
                  <a:srgbClr val="9A2323"/>
                </a:solidFill>
                <a:latin typeface="Consolas"/>
              </a:rPr>
              <a:t>ANALYTICS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The desk</a:t>
            </a:r>
          </a:p>
          <a:p>
            <a:pPr>
              <a:lnSpc>
                <a:spcPct val="130000"/>
              </a:lnSpc>
            </a:pPr>
            <a:r>
              <a:rPr sz="1150" b="0" i="0">
                <a:solidFill>
                  <a:srgbClr val="5B584F"/>
                </a:solidFill>
                <a:latin typeface="Calibri"/>
              </a:rPr>
              <a:t>Volume, sentiment trends, source/topic drill-down, a country heatmap.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8B8778"/>
                </a:solidFill>
                <a:latin typeface="Consolas"/>
              </a:rP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40080" y="384048"/>
            <a:ext cx="10911535" cy="0"/>
          </a:xfrm>
          <a:prstGeom prst="line">
            <a:avLst/>
          </a:prstGeom>
          <a:ln w="1905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1280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 spc="90">
                <a:solidFill>
                  <a:srgbClr val="5B584F"/>
                </a:solidFill>
                <a:latin typeface="Consolas"/>
              </a:rPr>
              <a:t>THE NEWS RESEARCH TOOL — PROJECT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12801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spc="90">
                <a:solidFill>
                  <a:srgbClr val="9A2323"/>
                </a:solidFill>
                <a:latin typeface="Consolas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 spc="120">
                <a:solidFill>
                  <a:srgbClr val="9A2323"/>
                </a:solidFill>
                <a:latin typeface="Consolas"/>
              </a:rPr>
              <a:t>04 —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A1A1A"/>
                </a:solidFill>
                <a:latin typeface="Georgia"/>
              </a:rPr>
              <a:t>Two paths through one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65960"/>
            <a:ext cx="2377440" cy="502920"/>
          </a:xfrm>
          <a:prstGeom prst="roundRect">
            <a:avLst>
              <a:gd name="adj" fmla="val 8000"/>
            </a:avLst>
          </a:prstGeom>
          <a:solidFill>
            <a:srgbClr val="FDFCFA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0" i="0">
                <a:solidFill>
                  <a:srgbClr val="1A1A1A"/>
                </a:solidFill>
                <a:latin typeface="Consolas"/>
              </a:rPr>
              <a:t>NewsData.io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1965960"/>
            <a:ext cx="2377440" cy="502920"/>
          </a:xfrm>
          <a:prstGeom prst="roundRect">
            <a:avLst>
              <a:gd name="adj" fmla="val 8000"/>
            </a:avLst>
          </a:prstGeom>
          <a:solidFill>
            <a:srgbClr val="FDFCFA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01568" y="196596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0" i="0">
                <a:solidFill>
                  <a:srgbClr val="1A1A1A"/>
                </a:solidFill>
                <a:latin typeface="Consolas"/>
              </a:rPr>
              <a:t>NewsAPI.org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0176" y="1965960"/>
            <a:ext cx="2377440" cy="502920"/>
          </a:xfrm>
          <a:prstGeom prst="roundRect">
            <a:avLst>
              <a:gd name="adj" fmla="val 8000"/>
            </a:avLst>
          </a:prstGeom>
          <a:solidFill>
            <a:srgbClr val="FDFCFA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80176" y="196596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0" i="0">
                <a:solidFill>
                  <a:srgbClr val="1A1A1A"/>
                </a:solidFill>
                <a:latin typeface="Consolas"/>
              </a:rPr>
              <a:t>GNews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58784" y="1965960"/>
            <a:ext cx="2377440" cy="502920"/>
          </a:xfrm>
          <a:prstGeom prst="roundRect">
            <a:avLst>
              <a:gd name="adj" fmla="val 8000"/>
            </a:avLst>
          </a:prstGeom>
          <a:solidFill>
            <a:srgbClr val="FDFCFA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58784" y="196596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0" i="0">
                <a:solidFill>
                  <a:srgbClr val="1A1A1A"/>
                </a:solidFill>
                <a:latin typeface="Consolas"/>
              </a:rPr>
              <a:t>RSS · 8 feeds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0" y="2468880"/>
            <a:ext cx="0" cy="365760"/>
          </a:xfrm>
          <a:prstGeom prst="line">
            <a:avLst/>
          </a:prstGeom>
          <a:ln w="12700">
            <a:solidFill>
              <a:srgbClr val="5B5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2468880"/>
            <a:ext cx="0" cy="365760"/>
          </a:xfrm>
          <a:prstGeom prst="line">
            <a:avLst/>
          </a:prstGeom>
          <a:ln w="12700">
            <a:solidFill>
              <a:srgbClr val="5B5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0" y="2468880"/>
            <a:ext cx="0" cy="365760"/>
          </a:xfrm>
          <a:prstGeom prst="line">
            <a:avLst/>
          </a:prstGeom>
          <a:ln w="12700">
            <a:solidFill>
              <a:srgbClr val="5B5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0" y="2468880"/>
            <a:ext cx="0" cy="365760"/>
          </a:xfrm>
          <a:prstGeom prst="line">
            <a:avLst/>
          </a:prstGeom>
          <a:ln w="12700">
            <a:solidFill>
              <a:srgbClr val="5B5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520440" y="2834640"/>
            <a:ext cx="5120640" cy="6858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20440" y="2907792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Provider Registry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20040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8B8778"/>
                </a:solidFill>
                <a:latin typeface="Calibri"/>
              </a:rPr>
              <a:t>retry + backoff + failover — one down ≠ all down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0" y="3520440"/>
            <a:ext cx="0" cy="164592"/>
          </a:xfrm>
          <a:prstGeom prst="line">
            <a:avLst/>
          </a:prstGeom>
          <a:ln w="15875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286000" y="3685032"/>
            <a:ext cx="0" cy="292608"/>
          </a:xfrm>
          <a:prstGeom prst="line">
            <a:avLst/>
          </a:prstGeom>
          <a:ln w="19050">
            <a:solidFill>
              <a:srgbClr val="9A23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685032"/>
            <a:ext cx="0" cy="292608"/>
          </a:xfrm>
          <a:prstGeom prst="line">
            <a:avLst/>
          </a:prstGeom>
          <a:ln w="19050">
            <a:solidFill>
              <a:srgbClr val="9A23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645920" y="36576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9A2323"/>
                </a:solidFill>
                <a:latin typeface="Consolas"/>
              </a:rPr>
              <a:t>on query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65760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9A2323"/>
                </a:solidFill>
                <a:latin typeface="Consolas"/>
              </a:rPr>
              <a:t>every 15 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3977640"/>
            <a:ext cx="4663440" cy="77724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4105656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1A1A1A"/>
                </a:solidFill>
                <a:latin typeface="Calibri"/>
              </a:rPr>
              <a:t>Validate → Dedupe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416552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8B8778"/>
                </a:solidFill>
                <a:latin typeface="Calibri"/>
              </a:rPr>
              <a:t>on-demand search path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3977640"/>
            <a:ext cx="4663440" cy="77724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75120" y="4050792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1A1A1A"/>
                </a:solidFill>
                <a:latin typeface="Calibri"/>
              </a:rPr>
              <a:t>Validate → Dedupe → Cluster</a:t>
            </a:r>
          </a:p>
          <a:p>
            <a:pPr algn="ctr"/>
            <a:r>
              <a:rPr sz="1150" b="1" i="0">
                <a:solidFill>
                  <a:srgbClr val="1A1A1A"/>
                </a:solidFill>
                <a:latin typeface="Calibri"/>
              </a:rPr>
              <a:t>Sentiment + Entities → Score</a:t>
            </a:r>
          </a:p>
          <a:p>
            <a:pPr algn="ctr"/>
            <a:r>
              <a:rPr sz="950" b="0" i="0">
                <a:solidFill>
                  <a:srgbClr val="8B8778"/>
                </a:solidFill>
                <a:latin typeface="Calibri"/>
              </a:rPr>
              <a:t>background scheduler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0" y="4754880"/>
            <a:ext cx="0" cy="365760"/>
          </a:xfrm>
          <a:prstGeom prst="line">
            <a:avLst/>
          </a:prstGeom>
          <a:ln w="15875">
            <a:solidFill>
              <a:srgbClr val="5B5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754880"/>
            <a:ext cx="0" cy="365760"/>
          </a:xfrm>
          <a:prstGeom prst="line">
            <a:avLst/>
          </a:prstGeom>
          <a:ln w="15875">
            <a:solidFill>
              <a:srgbClr val="5B58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22960" y="5120640"/>
            <a:ext cx="4663440" cy="6858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5193792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1A1A1A"/>
                </a:solidFill>
                <a:latin typeface="Calibri"/>
              </a:rPr>
              <a:t>Groq summary</a:t>
            </a:r>
          </a:p>
          <a:p>
            <a:pPr algn="ctr"/>
            <a:r>
              <a:rPr sz="950" b="0" i="0">
                <a:solidFill>
                  <a:srgbClr val="8B8778"/>
                </a:solidFill>
                <a:latin typeface="Calibri"/>
              </a:rPr>
              <a:t>rendered on the Search tab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5120640"/>
            <a:ext cx="4663440" cy="6858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75120" y="5193792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1A1A1A"/>
                </a:solidFill>
                <a:latin typeface="Calibri"/>
              </a:rPr>
              <a:t>SQLite</a:t>
            </a:r>
          </a:p>
          <a:p>
            <a:pPr algn="ctr"/>
            <a:r>
              <a:rPr sz="950" b="0" i="0">
                <a:solidFill>
                  <a:srgbClr val="8B8778"/>
                </a:solidFill>
                <a:latin typeface="Calibri"/>
              </a:rPr>
              <a:t>Latest Stories · Trending · Analytics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9436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1">
                <a:solidFill>
                  <a:srgbClr val="5B584F"/>
                </a:solidFill>
                <a:latin typeface="Calibri"/>
              </a:rPr>
              <a:t>Two asymmetric paths share one registry: a light on-demand path for interactive search, and a full background path that clusters, enriches, and scores every 15 minutes.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8B8778"/>
                </a:solidFill>
                <a:latin typeface="Consolas"/>
              </a:rP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40080" y="384048"/>
            <a:ext cx="10911535" cy="0"/>
          </a:xfrm>
          <a:prstGeom prst="line">
            <a:avLst/>
          </a:prstGeom>
          <a:ln w="1905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1280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 spc="90">
                <a:solidFill>
                  <a:srgbClr val="5B584F"/>
                </a:solidFill>
                <a:latin typeface="Consolas"/>
              </a:rPr>
              <a:t>THE NEWS RESEARCH TOOL — PROJECT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12801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spc="90">
                <a:solidFill>
                  <a:srgbClr val="9A2323"/>
                </a:solidFill>
                <a:latin typeface="Consolas"/>
              </a:rPr>
              <a:t>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 spc="120">
                <a:solidFill>
                  <a:srgbClr val="9A2323"/>
                </a:solidFill>
                <a:latin typeface="Consolas"/>
              </a:rPr>
              <a:t>05 —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91440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A1A1A"/>
                </a:solidFill>
                <a:latin typeface="Georgia"/>
              </a:rPr>
              <a:t>Four sources, verified before trusted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30352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50" b="0" i="0">
                <a:solidFill>
                  <a:srgbClr val="9A2323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NewsData.io, NewsAPI.org, GNews</a:t>
            </a:r>
            <a:r>
              <a:rPr sz="1350" b="0" i="0">
                <a:solidFill>
                  <a:srgbClr val="5B584F"/>
                </a:solidFill>
                <a:latin typeface="Calibri"/>
              </a:rPr>
              <a:t>  — keyed REST APIs behind one common interface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50" b="0" i="0">
                <a:solidFill>
                  <a:srgbClr val="9A2323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RSS</a:t>
            </a:r>
            <a:r>
              <a:rPr sz="1350" b="0" i="0">
                <a:solidFill>
                  <a:srgbClr val="5B584F"/>
                </a:solidFill>
                <a:latin typeface="Calibri"/>
              </a:rPr>
              <a:t>  — 8 feeds, each checked live before adding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50" b="0" i="0">
                <a:solidFill>
                  <a:srgbClr val="9A2323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Reuters excluded</a:t>
            </a:r>
            <a:r>
              <a:rPr sz="1350" b="0" i="0">
                <a:solidFill>
                  <a:srgbClr val="5B584F"/>
                </a:solidFill>
                <a:latin typeface="Calibri"/>
              </a:rPr>
              <a:t>  — its public feed returned a dead connection, not assumed working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50" b="0" i="0">
                <a:solidFill>
                  <a:srgbClr val="9A2323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Every provider retries</a:t>
            </a:r>
            <a:r>
              <a:rPr sz="1350" b="0" i="0">
                <a:solidFill>
                  <a:srgbClr val="5B584F"/>
                </a:solidFill>
                <a:latin typeface="Calibri"/>
              </a:rPr>
              <a:t>  — 2 attempts, exponential backoff, then skipped, not fatal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0" y="2011680"/>
            <a:ext cx="0" cy="2011680"/>
          </a:xfrm>
          <a:prstGeom prst="line">
            <a:avLst/>
          </a:prstGeom>
          <a:ln w="38100">
            <a:solidFill>
              <a:srgbClr val="9A23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601968" y="2011680"/>
            <a:ext cx="4919472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350" b="0" i="1">
                <a:solidFill>
                  <a:srgbClr val="1A1A1A"/>
                </a:solidFill>
                <a:latin typeface="Georgia"/>
              </a:rPr>
              <a:t>newsdata: fetched 10 articles
rss: fetched 70 articles across 8 sources
newsapi: fetched 10 articles
gnews: fetched 10 articles</a:t>
            </a:r>
          </a:p>
          <a:p>
            <a:r>
              <a:rPr sz="1050" b="0" i="0">
                <a:solidFill>
                  <a:srgbClr val="8B8778"/>
                </a:solidFill>
                <a:latin typeface="Consolas"/>
              </a:rPr>
              <a:t>— real ingestion cycle log, this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8B8778"/>
                </a:solidFill>
                <a:latin typeface="Consolas"/>
              </a:rPr>
              <a:t>06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40080" y="384048"/>
            <a:ext cx="10911535" cy="0"/>
          </a:xfrm>
          <a:prstGeom prst="line">
            <a:avLst/>
          </a:prstGeom>
          <a:ln w="1905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1280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 spc="90">
                <a:solidFill>
                  <a:srgbClr val="5B584F"/>
                </a:solidFill>
                <a:latin typeface="Consolas"/>
              </a:rPr>
              <a:t>THE NEWS RESEARCH TOOL — PROJECT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12801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spc="90">
                <a:solidFill>
                  <a:srgbClr val="9A2323"/>
                </a:solidFill>
                <a:latin typeface="Consolas"/>
              </a:rPr>
              <a:t>DEDUPLICATION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 spc="120">
                <a:solidFill>
                  <a:srgbClr val="9A2323"/>
                </a:solidFill>
                <a:latin typeface="Consolas"/>
              </a:rPr>
              <a:t>06 — DEDUPLICATION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A1A1A"/>
                </a:solidFill>
                <a:latin typeface="Georgia"/>
              </a:rPr>
              <a:t>Three passes, cheapest first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502152" cy="2103120"/>
          </a:xfrm>
          <a:prstGeom prst="roundRect">
            <a:avLst>
              <a:gd name="adj" fmla="val 6000"/>
            </a:avLst>
          </a:prstGeom>
          <a:solidFill>
            <a:srgbClr val="F2EFE7"/>
          </a:solidFill>
          <a:ln w="12700">
            <a:solidFill>
              <a:srgbClr val="E7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276856"/>
            <a:ext cx="3172968" cy="1847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 spc="60">
                <a:solidFill>
                  <a:srgbClr val="9A2323"/>
                </a:solidFill>
                <a:latin typeface="Consolas"/>
              </a:rPr>
              <a:t>LEVEL 1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URL canonicalization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5B584F"/>
                </a:solidFill>
                <a:latin typeface="Calibri"/>
              </a:rPr>
              <a:t>Strips tracking params, www., trailing slashes — same article, different link.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148840"/>
            <a:ext cx="3502152" cy="2103120"/>
          </a:xfrm>
          <a:prstGeom prst="roundRect">
            <a:avLst>
              <a:gd name="adj" fmla="val 6000"/>
            </a:avLst>
          </a:prstGeom>
          <a:solidFill>
            <a:srgbClr val="F2EFE7"/>
          </a:solidFill>
          <a:ln w="12700">
            <a:solidFill>
              <a:srgbClr val="E7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5424" y="2276856"/>
            <a:ext cx="3172968" cy="1847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 spc="60">
                <a:solidFill>
                  <a:srgbClr val="9A2323"/>
                </a:solidFill>
                <a:latin typeface="Consolas"/>
              </a:rPr>
              <a:t>LEVEL 2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Title matching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5B584F"/>
                </a:solidFill>
                <a:latin typeface="Calibri"/>
              </a:rPr>
              <a:t>Lowercased, punctuation-stripped exact match catches re-syndicated wire copy.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2148840"/>
            <a:ext cx="3502152" cy="2103120"/>
          </a:xfrm>
          <a:prstGeom prst="roundRect">
            <a:avLst>
              <a:gd name="adj" fmla="val 6000"/>
            </a:avLst>
          </a:prstGeom>
          <a:solidFill>
            <a:srgbClr val="F2EFE7"/>
          </a:solidFill>
          <a:ln w="12700">
            <a:solidFill>
              <a:srgbClr val="E7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66176" y="2276856"/>
            <a:ext cx="3172968" cy="1847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 spc="60">
                <a:solidFill>
                  <a:srgbClr val="9A2323"/>
                </a:solidFill>
                <a:latin typeface="Consolas"/>
              </a:rPr>
              <a:t>LEVEL 3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Semantic match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5B584F"/>
                </a:solidFill>
                <a:latin typeface="Calibri"/>
              </a:rPr>
              <a:t>Hand-rolled TF-IDF + cosine on numpy — no embeddings dependency needed.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2628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50" b="0" i="0">
                <a:solidFill>
                  <a:srgbClr val="5B584F"/>
                </a:solidFill>
                <a:latin typeface="Calibri"/>
              </a:rPr>
              <a:t>A SQLite UNIQUE(canonical_url) constraint backstops all three — belt and suspenders, not either/or.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8B8778"/>
                </a:solidFill>
                <a:latin typeface="Consolas"/>
              </a:rP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40080" y="384048"/>
            <a:ext cx="10911535" cy="0"/>
          </a:xfrm>
          <a:prstGeom prst="line">
            <a:avLst/>
          </a:prstGeom>
          <a:ln w="1905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1280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 spc="90">
                <a:solidFill>
                  <a:srgbClr val="5B584F"/>
                </a:solidFill>
                <a:latin typeface="Consolas"/>
              </a:rPr>
              <a:t>THE NEWS RESEARCH TOOL — PROJECT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12801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spc="90">
                <a:solidFill>
                  <a:srgbClr val="9A2323"/>
                </a:solidFill>
                <a:latin typeface="Consolas"/>
              </a:rPr>
              <a:t>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 spc="120">
                <a:solidFill>
                  <a:srgbClr val="9A2323"/>
                </a:solidFill>
                <a:latin typeface="Consolas"/>
              </a:rPr>
              <a:t>07 — STORY 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A1A1A"/>
                </a:solidFill>
                <a:latin typeface="Georgia"/>
              </a:rPr>
              <a:t>One story, many voices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00" b="0" i="0">
                <a:solidFill>
                  <a:srgbClr val="5B584F"/>
                </a:solidFill>
                <a:latin typeface="Calibri"/>
              </a:rPr>
              <a:t>Distinct articles covering the same event get grouped into a story — not merged, not deduplicated away, just linked under one story_id.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00" b="0" i="0">
                <a:solidFill>
                  <a:srgbClr val="5B584F"/>
                </a:solidFill>
                <a:latin typeface="Calibri"/>
              </a:rPr>
              <a:t>Each story then picks a primary article — the best version, by the same scoring formula that ranks everything else.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6596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F2EFE7"/>
          </a:solidFill>
          <a:ln w="12700">
            <a:solidFill>
              <a:srgbClr val="E7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3952" y="2093976"/>
            <a:ext cx="4791456" cy="1572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 spc="60">
                <a:solidFill>
                  <a:srgbClr val="9A2323"/>
                </a:solidFill>
                <a:latin typeface="Consolas"/>
              </a:rPr>
              <a:t>EXAMPLE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RBI keeps repo rate unchanged</a:t>
            </a:r>
          </a:p>
          <a:p>
            <a:pPr>
              <a:lnSpc>
                <a:spcPct val="130000"/>
              </a:lnSpc>
            </a:pPr>
            <a:r>
              <a:rPr sz="1250" b="0" i="0">
                <a:solidFill>
                  <a:srgbClr val="5B584F"/>
                </a:solidFill>
                <a:latin typeface="Calibri"/>
              </a:rPr>
              <a:t>Reuters (08:00) → The Hindu (10:00) → Economic Times (14:00) — three separate articles, one clustered story, one chosen as primary.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8B8778"/>
                </a:solidFill>
                <a:latin typeface="Consolas"/>
              </a:rP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40080" y="384048"/>
            <a:ext cx="10911535" cy="0"/>
          </a:xfrm>
          <a:prstGeom prst="line">
            <a:avLst/>
          </a:prstGeom>
          <a:ln w="1905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1280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 spc="90">
                <a:solidFill>
                  <a:srgbClr val="5B584F"/>
                </a:solidFill>
                <a:latin typeface="Consolas"/>
              </a:rPr>
              <a:t>THE NEWS RESEARCH TOOL — PROJECT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12801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spc="90">
                <a:solidFill>
                  <a:srgbClr val="9A2323"/>
                </a:solidFill>
                <a:latin typeface="Consolas"/>
              </a:rPr>
              <a:t>NLP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 spc="120">
                <a:solidFill>
                  <a:srgbClr val="9A2323"/>
                </a:solidFill>
                <a:latin typeface="Consolas"/>
              </a:rPr>
              <a:t>08 — LANGUAGE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A1A1A"/>
                </a:solidFill>
                <a:latin typeface="Georgia"/>
              </a:rPr>
              <a:t>Reading between the lines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F2EFE7"/>
          </a:solidFill>
          <a:ln w="12700">
            <a:solidFill>
              <a:srgbClr val="E7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231136"/>
            <a:ext cx="4791456" cy="1847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 spc="60">
                <a:solidFill>
                  <a:srgbClr val="9A2323"/>
                </a:solidFill>
                <a:latin typeface="Consolas"/>
              </a:rPr>
              <a:t>SENTIMENT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cardiffnlp/twitter-roberta-base-sentiment-latest</a:t>
            </a:r>
          </a:p>
          <a:p>
            <a:pPr>
              <a:lnSpc>
                <a:spcPct val="130000"/>
              </a:lnSpc>
            </a:pPr>
            <a:r>
              <a:rPr sz="1250" b="0" i="0">
                <a:solidFill>
                  <a:srgbClr val="5B584F"/>
                </a:solidFill>
                <a:latin typeface="Calibri"/>
              </a:rPr>
              <a:t>A real 3-class transformer — positive, neutral, negative — with a confidence score, run once per article at ingestion.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F2EFE7"/>
          </a:solidFill>
          <a:ln w="12700">
            <a:solidFill>
              <a:srgbClr val="E7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3952" y="2231136"/>
            <a:ext cx="4791456" cy="1847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 spc="60">
                <a:solidFill>
                  <a:srgbClr val="9A2323"/>
                </a:solidFill>
                <a:latin typeface="Consolas"/>
              </a:rPr>
              <a:t>ENTITIES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spaCy en_core_web_sm</a:t>
            </a:r>
          </a:p>
          <a:p>
            <a:pPr>
              <a:lnSpc>
                <a:spcPct val="130000"/>
              </a:lnSpc>
            </a:pPr>
            <a:r>
              <a:rPr sz="1250" b="0" i="0">
                <a:solidFill>
                  <a:srgbClr val="5B584F"/>
                </a:solidFill>
                <a:latin typeface="Calibri"/>
              </a:rPr>
              <a:t>People, organizations, places, products — 224+ distinct entities extracted in one live test, with correct cross-article mention counts.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50" b="0" i="0">
                <a:solidFill>
                  <a:srgbClr val="5B584F"/>
                </a:solidFill>
                <a:latin typeface="Calibri"/>
              </a:rPr>
              <a:t>Both run only during background ingestion — never on a page load, so Search stays fast.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8B8778"/>
                </a:solidFill>
                <a:latin typeface="Consolas"/>
              </a:rPr>
              <a:t>09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40080" y="384048"/>
            <a:ext cx="10911535" cy="0"/>
          </a:xfrm>
          <a:prstGeom prst="line">
            <a:avLst/>
          </a:prstGeom>
          <a:ln w="1905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1280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 spc="90">
                <a:solidFill>
                  <a:srgbClr val="5B584F"/>
                </a:solidFill>
                <a:latin typeface="Consolas"/>
              </a:rPr>
              <a:t>THE NEWS RESEARCH TOOL — PROJECT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12801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spc="90">
                <a:solidFill>
                  <a:srgbClr val="9A2323"/>
                </a:solidFill>
                <a:latin typeface="Consolas"/>
              </a:rPr>
              <a:t>STORY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 spc="120">
                <a:solidFill>
                  <a:srgbClr val="9A2323"/>
                </a:solidFill>
                <a:latin typeface="Consolas"/>
              </a:rPr>
              <a:t>09 — STORY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A1A1A"/>
                </a:solidFill>
                <a:latin typeface="Georgia"/>
              </a:rPr>
              <a:t>One call, four angles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512064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50" b="0" i="0">
                <a:solidFill>
                  <a:srgbClr val="9A2323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Timeline</a:t>
            </a:r>
            <a:r>
              <a:rPr sz="1350" b="0" i="0">
                <a:solidFill>
                  <a:srgbClr val="5B584F"/>
                </a:solidFill>
                <a:latin typeface="Calibri"/>
              </a:rPr>
              <a:t>  — how coverage developed, in order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50" b="0" i="0">
                <a:solidFill>
                  <a:srgbClr val="9A2323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Cross-source comparison</a:t>
            </a:r>
            <a:r>
              <a:rPr sz="1350" b="0" i="0">
                <a:solidFill>
                  <a:srgbClr val="5B584F"/>
                </a:solidFill>
                <a:latin typeface="Calibri"/>
              </a:rPr>
              <a:t>  — what each outlet emphasized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50" b="0" i="0">
                <a:solidFill>
                  <a:srgbClr val="9A2323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Coverage perspective</a:t>
            </a:r>
            <a:r>
              <a:rPr sz="1350" b="0" i="0">
                <a:solidFill>
                  <a:srgbClr val="5B584F"/>
                </a:solidFill>
                <a:latin typeface="Calibri"/>
              </a:rPr>
              <a:t>  — tone and framing per source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50" b="0" i="0">
                <a:solidFill>
                  <a:srgbClr val="9A2323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Why this matters</a:t>
            </a:r>
            <a:r>
              <a:rPr sz="1350" b="0" i="0">
                <a:solidFill>
                  <a:srgbClr val="5B584F"/>
                </a:solidFill>
                <a:latin typeface="Calibri"/>
              </a:rPr>
              <a:t>  — significance, grounded in the articles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309360" y="2057400"/>
            <a:ext cx="0" cy="1920240"/>
          </a:xfrm>
          <a:prstGeom prst="line">
            <a:avLst/>
          </a:prstGeom>
          <a:ln w="38100">
            <a:solidFill>
              <a:srgbClr val="9A23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10528" y="2057400"/>
            <a:ext cx="4919472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450" b="0" i="1">
                <a:solidFill>
                  <a:srgbClr val="1A1A1A"/>
                </a:solidFill>
                <a:latin typeface="Georgia"/>
              </a:rPr>
              <a:t>This is automated analysis of language patterns, not a definitive assessment of editorial bias.</a:t>
            </a:r>
          </a:p>
          <a:p>
            <a:r>
              <a:rPr sz="1050" b="0" i="0">
                <a:solidFill>
                  <a:srgbClr val="8B8778"/>
                </a:solidFill>
                <a:latin typeface="Consolas"/>
              </a:rPr>
              <a:t>— enforced disclaimer, verified reproduced verbatim by the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4340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50" b="0" i="0">
                <a:solidFill>
                  <a:srgbClr val="5B584F"/>
                </a:solidFill>
                <a:latin typeface="Calibri"/>
              </a:rPr>
              <a:t>All four from one consolidated Groq call per major story — not four — to keep cost proportional to what's actually corroborated.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8B8778"/>
                </a:solidFill>
                <a:latin typeface="Consolas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40080" y="384048"/>
            <a:ext cx="10911535" cy="0"/>
          </a:xfrm>
          <a:prstGeom prst="line">
            <a:avLst/>
          </a:prstGeom>
          <a:ln w="1905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1280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 spc="90">
                <a:solidFill>
                  <a:srgbClr val="5B584F"/>
                </a:solidFill>
                <a:latin typeface="Consolas"/>
              </a:rPr>
              <a:t>THE NEWS RESEARCH TOOL — PROJECT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12801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spc="90">
                <a:solidFill>
                  <a:srgbClr val="9A2323"/>
                </a:solidFill>
                <a:latin typeface="Consolas"/>
              </a:rPr>
              <a:t>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 spc="120">
                <a:solidFill>
                  <a:srgbClr val="9A2323"/>
                </a:solidFill>
                <a:latin typeface="Consolas"/>
              </a:rPr>
              <a:t>10 — SCORING &amp; TRENDING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91440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A1A1A"/>
                </a:solidFill>
                <a:latin typeface="Georgia"/>
              </a:rPr>
              <a:t>Transparent, configurable formulas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i="0" spc="80">
                <a:solidFill>
                  <a:srgbClr val="8B8778"/>
                </a:solidFill>
                <a:latin typeface="Consolas"/>
              </a:rPr>
              <a:t>ARTICLE IMPORTANCE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10058400" cy="960120"/>
          </a:xfrm>
          <a:prstGeom prst="roundRect">
            <a:avLst>
              <a:gd name="adj" fmla="val 4000"/>
            </a:avLst>
          </a:prstGeom>
          <a:solidFill>
            <a:srgbClr val="F2EFE7"/>
          </a:solidFill>
          <a:ln w="12700">
            <a:solidFill>
              <a:srgbClr val="E7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414016"/>
            <a:ext cx="9692640" cy="704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500" b="0" i="0">
                <a:solidFill>
                  <a:srgbClr val="1A1A1A"/>
                </a:solidFill>
                <a:latin typeface="Consolas"/>
              </a:rPr>
              <a:t>quality = source×0.30 + recency×0.25 + completeness×0.15</a:t>
            </a:r>
          </a:p>
          <a:p>
            <a:pPr>
              <a:lnSpc>
                <a:spcPct val="150000"/>
              </a:lnSpc>
            </a:pPr>
            <a:r>
              <a:rPr sz="1500" b="0" i="0">
                <a:solidFill>
                  <a:srgbClr val="1A1A1A"/>
                </a:solidFill>
                <a:latin typeface="Consolas"/>
              </a:rPr>
              <a:t>        + originality×0.10 + diversity×0.15 + entities×0.05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i="0" spc="80">
                <a:solidFill>
                  <a:srgbClr val="8B8778"/>
                </a:solidFill>
                <a:latin typeface="Consolas"/>
              </a:rPr>
              <a:t>TRENDING MOMENTUM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40480"/>
            <a:ext cx="10058400" cy="685800"/>
          </a:xfrm>
          <a:prstGeom prst="roundRect">
            <a:avLst>
              <a:gd name="adj" fmla="val 4000"/>
            </a:avLst>
          </a:prstGeom>
          <a:solidFill>
            <a:srgbClr val="F2EFE7"/>
          </a:solidFill>
          <a:ln w="12700">
            <a:solidFill>
              <a:srgbClr val="E7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968496"/>
            <a:ext cx="969264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500" b="0" i="0">
                <a:solidFill>
                  <a:srgbClr val="1A1A1A"/>
                </a:solidFill>
                <a:latin typeface="Consolas"/>
              </a:rPr>
              <a:t>momentum = growth×0.4 + volume×0.2 + recency×0.2 + diversity×0.2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50" b="0" i="0">
                <a:solidFill>
                  <a:srgbClr val="5B584F"/>
                </a:solidFill>
                <a:latin typeface="Calibri"/>
              </a:rPr>
              <a:t>Weights are function parameters, not hardcoded constants — every number above is a documented default, not a magic 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8B8778"/>
                </a:solidFill>
                <a:latin typeface="Consolas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40080" y="384048"/>
            <a:ext cx="10911535" cy="0"/>
          </a:xfrm>
          <a:prstGeom prst="line">
            <a:avLst/>
          </a:prstGeom>
          <a:ln w="1905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1280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 spc="90">
                <a:solidFill>
                  <a:srgbClr val="5B584F"/>
                </a:solidFill>
                <a:latin typeface="Consolas"/>
              </a:rPr>
              <a:t>THE NEWS RESEARCH TOOL — PROJECT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12801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spc="90">
                <a:solidFill>
                  <a:srgbClr val="9A2323"/>
                </a:solidFill>
                <a:latin typeface="Consolas"/>
              </a:rPr>
              <a:t>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 spc="120">
                <a:solidFill>
                  <a:srgbClr val="9A2323"/>
                </a:solidFill>
                <a:latin typeface="Consolas"/>
              </a:rPr>
              <a:t>11 — THE ANALYTICS DESK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A1A1A"/>
                </a:solidFill>
                <a:latin typeface="Georgia"/>
              </a:rPr>
              <a:t>Volume, sentiment, and a heatmap that needed real cleanup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12064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50" b="0" i="0">
                <a:solidFill>
                  <a:srgbClr val="9A2323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Volume &amp; sentiment trends</a:t>
            </a:r>
            <a:r>
              <a:rPr sz="1350" b="0" i="0">
                <a:solidFill>
                  <a:srgbClr val="5B584F"/>
                </a:solidFill>
                <a:latin typeface="Calibri"/>
              </a:rPr>
              <a:t>  — daily rollups over 30 days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50" b="0" i="0">
                <a:solidFill>
                  <a:srgbClr val="9A2323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Source &amp; topic drill-down</a:t>
            </a:r>
            <a:r>
              <a:rPr sz="1350" b="0" i="0">
                <a:solidFill>
                  <a:srgbClr val="5B584F"/>
                </a:solidFill>
                <a:latin typeface="Calibri"/>
              </a:rPr>
              <a:t>  — sortable comparisons, per-entity history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50" b="0" i="0">
                <a:solidFill>
                  <a:srgbClr val="9A2323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Country heatmap</a:t>
            </a:r>
            <a:r>
              <a:rPr sz="1350" b="0" i="0">
                <a:solidFill>
                  <a:srgbClr val="5B584F"/>
                </a:solidFill>
                <a:latin typeface="Calibri"/>
              </a:rPr>
              <a:t>  — a live Plotly choropleth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331720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F2EFE7"/>
          </a:solidFill>
          <a:ln w="12700">
            <a:solidFill>
              <a:srgbClr val="E7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3952" y="2459736"/>
            <a:ext cx="4791456" cy="1847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 spc="60">
                <a:solidFill>
                  <a:srgbClr val="9A2323"/>
                </a:solidFill>
                <a:latin typeface="Consolas"/>
              </a:rPr>
              <a:t>REAL DATA PROBLEM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One field, 27 countries</a:t>
            </a:r>
          </a:p>
          <a:p>
            <a:pPr>
              <a:lnSpc>
                <a:spcPct val="130000"/>
              </a:lnSpc>
            </a:pPr>
            <a:r>
              <a:rPr sz="1250" b="0" i="0">
                <a:solidFill>
                  <a:srgbClr val="5B584F"/>
                </a:solidFill>
                <a:latin typeface="Calibri"/>
              </a:rPr>
              <a:t>Some articles arrived with a single comma-separated field listing dozens of countries. Normalized via pycountry — split, matched, or dropped, never guessed 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8B8778"/>
                </a:solidFill>
                <a:latin typeface="Consolas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40080" y="384048"/>
            <a:ext cx="10911535" cy="0"/>
          </a:xfrm>
          <a:prstGeom prst="line">
            <a:avLst/>
          </a:prstGeom>
          <a:ln w="1905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1280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 spc="90">
                <a:solidFill>
                  <a:srgbClr val="5B584F"/>
                </a:solidFill>
                <a:latin typeface="Consolas"/>
              </a:rPr>
              <a:t>THE NEWS RESEARCH TOOL — PROJECT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12801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spc="90">
                <a:solidFill>
                  <a:srgbClr val="9A2323"/>
                </a:solidFill>
                <a:latin typeface="Consolas"/>
              </a:rPr>
              <a:t>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 spc="120">
                <a:solidFill>
                  <a:srgbClr val="9A2323"/>
                </a:solidFill>
                <a:latin typeface="Consolas"/>
              </a:rPr>
              <a:t>12 — EDITORIAL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A1A1A"/>
                </a:solidFill>
                <a:latin typeface="Georgia"/>
              </a:rPr>
              <a:t>Designed like a newsroom, not a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3502152" cy="2103120"/>
          </a:xfrm>
          <a:prstGeom prst="roundRect">
            <a:avLst>
              <a:gd name="adj" fmla="val 6000"/>
            </a:avLst>
          </a:prstGeom>
          <a:solidFill>
            <a:srgbClr val="F2EFE7"/>
          </a:solidFill>
          <a:ln w="12700">
            <a:solidFill>
              <a:srgbClr val="E7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322576"/>
            <a:ext cx="3172968" cy="1847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 spc="60">
                <a:solidFill>
                  <a:srgbClr val="9A2323"/>
                </a:solidFill>
                <a:latin typeface="Consolas"/>
              </a:rPr>
              <a:t>TYPE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Merriweather + Inter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5B584F"/>
                </a:solidFill>
                <a:latin typeface="Calibri"/>
              </a:rPr>
              <a:t>Serif headlines, clean sans body — the same pairing this deck borrows.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194560"/>
            <a:ext cx="3502152" cy="2103120"/>
          </a:xfrm>
          <a:prstGeom prst="roundRect">
            <a:avLst>
              <a:gd name="adj" fmla="val 6000"/>
            </a:avLst>
          </a:prstGeom>
          <a:solidFill>
            <a:srgbClr val="F2EFE7"/>
          </a:solidFill>
          <a:ln w="12700">
            <a:solidFill>
              <a:srgbClr val="E7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5424" y="2322576"/>
            <a:ext cx="3172968" cy="1847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 spc="60">
                <a:solidFill>
                  <a:srgbClr val="9A2323"/>
                </a:solidFill>
                <a:latin typeface="Consolas"/>
              </a:rPr>
              <a:t>LAYOUT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Hero + grid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5B584F"/>
                </a:solidFill>
                <a:latin typeface="Calibri"/>
              </a:rPr>
              <a:t>A front page: one lead story by quality score, the rest in a ranked grid.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2194560"/>
            <a:ext cx="3502152" cy="2103120"/>
          </a:xfrm>
          <a:prstGeom prst="roundRect">
            <a:avLst>
              <a:gd name="adj" fmla="val 6000"/>
            </a:avLst>
          </a:prstGeom>
          <a:solidFill>
            <a:srgbClr val="F2EFE7"/>
          </a:solidFill>
          <a:ln w="12700">
            <a:solidFill>
              <a:srgbClr val="E7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66176" y="2322576"/>
            <a:ext cx="3172968" cy="1847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 spc="60">
                <a:solidFill>
                  <a:srgbClr val="9A2323"/>
                </a:solidFill>
                <a:latin typeface="Consolas"/>
              </a:rPr>
              <a:t>DETAIL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Pills &amp; thumbnails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5B584F"/>
                </a:solidFill>
                <a:latin typeface="Calibri"/>
              </a:rPr>
              <a:t>Category tags and real article images — 85% of ingested articles have 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8B8778"/>
                </a:solidFill>
                <a:latin typeface="Consolas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40080" y="384048"/>
            <a:ext cx="10911535" cy="0"/>
          </a:xfrm>
          <a:prstGeom prst="line">
            <a:avLst/>
          </a:prstGeom>
          <a:ln w="1905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1280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 spc="90">
                <a:solidFill>
                  <a:srgbClr val="5B584F"/>
                </a:solidFill>
                <a:latin typeface="Consolas"/>
              </a:rPr>
              <a:t>THE NEWS RESEARCH TOOL — PROJECT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12801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spc="90">
                <a:solidFill>
                  <a:srgbClr val="9A2323"/>
                </a:solidFill>
                <a:latin typeface="Consolas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 spc="120">
                <a:solidFill>
                  <a:srgbClr val="9A2323"/>
                </a:solidFill>
                <a:latin typeface="Consolas"/>
              </a:rPr>
              <a:t>13 — SECURITY &amp;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A1A1A"/>
                </a:solidFill>
                <a:latin typeface="Georgia"/>
              </a:rPr>
              <a:t>Locks, not vaults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0584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50" b="0" i="0">
                <a:solidFill>
                  <a:srgbClr val="9A2323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No hardcoded keys</a:t>
            </a:r>
            <a:r>
              <a:rPr sz="1350" b="0" i="0">
                <a:solidFill>
                  <a:srgbClr val="5B584F"/>
                </a:solidFill>
                <a:latin typeface="Calibri"/>
              </a:rPr>
              <a:t>  — every credential loads from .env or st.secrets, both git-ignored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50" b="0" i="0">
                <a:solidFill>
                  <a:srgbClr val="9A2323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Secret-redacting log filter</a:t>
            </a:r>
            <a:r>
              <a:rPr sz="1350" b="0" i="0">
                <a:solidFill>
                  <a:srgbClr val="5B584F"/>
                </a:solidFill>
                <a:latin typeface="Calibri"/>
              </a:rPr>
              <a:t>  — catches anything credential-shaped before it reaches a log line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50" b="0" i="0">
                <a:solidFill>
                  <a:srgbClr val="9A2323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Optional password gate</a:t>
            </a:r>
            <a:r>
              <a:rPr sz="1350" b="0" i="0">
                <a:solidFill>
                  <a:srgbClr val="5B584F"/>
                </a:solidFill>
                <a:latin typeface="Calibri"/>
              </a:rPr>
              <a:t>  — a shared st.secrets password, off by default, on when you set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50" b="0" i="0">
                <a:solidFill>
                  <a:srgbClr val="5B584F"/>
                </a:solidFill>
                <a:latin typeface="Calibri"/>
              </a:rPr>
              <a:t>Sized to what this actually is: a single-user tool, not a multi-tenant system — no password hashing theater for a lock only one person ever opens.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8B8778"/>
                </a:solidFill>
                <a:latin typeface="Consolas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40080" y="384048"/>
            <a:ext cx="10911535" cy="0"/>
          </a:xfrm>
          <a:prstGeom prst="line">
            <a:avLst/>
          </a:prstGeom>
          <a:ln w="1905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1280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 spc="90">
                <a:solidFill>
                  <a:srgbClr val="5B584F"/>
                </a:solidFill>
                <a:latin typeface="Consolas"/>
              </a:rPr>
              <a:t>THE NEWS RESEARCH TOOL — PROJECT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12801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spc="90">
                <a:solidFill>
                  <a:srgbClr val="9A2323"/>
                </a:solidFill>
                <a:latin typeface="Consolas"/>
              </a:rPr>
              <a:t>RIGOR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 spc="120">
                <a:solidFill>
                  <a:srgbClr val="9A2323"/>
                </a:solidFill>
                <a:latin typeface="Consolas"/>
              </a:rPr>
              <a:t>14 — ENGINEERING RIGOR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91440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A1A1A"/>
                </a:solidFill>
                <a:latin typeface="Georgia"/>
              </a:rPr>
              <a:t>Built to last, proven while building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103120"/>
            <a:ext cx="0" cy="1188720"/>
          </a:xfrm>
          <a:prstGeom prst="line">
            <a:avLst/>
          </a:prstGeom>
          <a:ln w="38100">
            <a:solidFill>
              <a:srgbClr val="9A23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04672" y="2103120"/>
            <a:ext cx="495604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3200" b="1" i="0">
                <a:solidFill>
                  <a:srgbClr val="1A1A1A"/>
                </a:solidFill>
                <a:latin typeface="Consolas"/>
              </a:rPr>
              <a:t>161</a:t>
            </a:r>
          </a:p>
          <a:p>
            <a:pPr>
              <a:lnSpc>
                <a:spcPct val="125000"/>
              </a:lnSpc>
            </a:pPr>
            <a:r>
              <a:rPr sz="1150" b="0" i="0">
                <a:solidFill>
                  <a:srgbClr val="5B584F"/>
                </a:solidFill>
                <a:latin typeface="Calibri"/>
              </a:rPr>
              <a:t>automated tests — mocked, isolated, no live keys or network needed to run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309360" y="2103120"/>
            <a:ext cx="0" cy="1188720"/>
          </a:xfrm>
          <a:prstGeom prst="line">
            <a:avLst/>
          </a:prstGeom>
          <a:ln w="38100">
            <a:solidFill>
              <a:srgbClr val="9A23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73952" y="2103120"/>
            <a:ext cx="495604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3200" b="1" i="0">
                <a:solidFill>
                  <a:srgbClr val="1A1A1A"/>
                </a:solidFill>
                <a:latin typeface="Consolas"/>
              </a:rPr>
              <a:t>2</a:t>
            </a:r>
          </a:p>
          <a:p>
            <a:pPr>
              <a:lnSpc>
                <a:spcPct val="125000"/>
              </a:lnSpc>
            </a:pPr>
            <a:r>
              <a:rPr sz="1150" b="0" i="0">
                <a:solidFill>
                  <a:srgbClr val="5B584F"/>
                </a:solidFill>
                <a:latin typeface="Calibri"/>
              </a:rPr>
              <a:t>real bugs caught by live testing that unit tests structurally could not have found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100584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50" b="0" i="0">
                <a:solidFill>
                  <a:srgbClr val="9A2323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Schema migration order</a:t>
            </a:r>
            <a:r>
              <a:rPr sz="1350" b="0" i="0">
                <a:solidFill>
                  <a:srgbClr val="5B584F"/>
                </a:solidFill>
                <a:latin typeface="Calibri"/>
              </a:rPr>
              <a:t>  — a fresh-DB assumption broke against the real, already-existing database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50" b="0" i="0">
                <a:solidFill>
                  <a:srgbClr val="9A2323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Multi-value category fields</a:t>
            </a:r>
            <a:r>
              <a:rPr sz="1350" b="0" i="0">
                <a:solidFill>
                  <a:srgbClr val="5B584F"/>
                </a:solidFill>
                <a:latin typeface="Calibri"/>
              </a:rPr>
              <a:t>  — “top, politics” was counted as one bogus category until caught against real ingested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8B8778"/>
                </a:solidFill>
                <a:latin typeface="Consolas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40080" y="384048"/>
            <a:ext cx="10911535" cy="0"/>
          </a:xfrm>
          <a:prstGeom prst="line">
            <a:avLst/>
          </a:prstGeom>
          <a:ln w="1905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1280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 spc="90">
                <a:solidFill>
                  <a:srgbClr val="5B584F"/>
                </a:solidFill>
                <a:latin typeface="Consolas"/>
              </a:rPr>
              <a:t>THE NEWS RESEARCH TOOL — PROJECT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12801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spc="90">
                <a:solidFill>
                  <a:srgbClr val="9A2323"/>
                </a:solidFill>
                <a:latin typeface="Consolas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 spc="120">
                <a:solidFill>
                  <a:srgbClr val="9A2323"/>
                </a:solidFill>
                <a:latin typeface="Consolas"/>
              </a:rPr>
              <a:t>15 — TOMORROW'S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A1A1A"/>
                </a:solidFill>
                <a:latin typeface="Georgia"/>
              </a:rPr>
              <a:t>What's deliberately not built, and why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3502152" cy="2103120"/>
          </a:xfrm>
          <a:prstGeom prst="roundRect">
            <a:avLst>
              <a:gd name="adj" fmla="val 6000"/>
            </a:avLst>
          </a:prstGeom>
          <a:solidFill>
            <a:srgbClr val="F2EFE7"/>
          </a:solidFill>
          <a:ln w="12700">
            <a:solidFill>
              <a:srgbClr val="E7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322576"/>
            <a:ext cx="3172968" cy="1847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 spc="60">
                <a:solidFill>
                  <a:srgbClr val="9A2323"/>
                </a:solidFill>
                <a:latin typeface="Consolas"/>
              </a:rPr>
              <a:t>PREDICTIVE ANALYTICS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Blocked on data, not code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5B584F"/>
                </a:solidFill>
                <a:latin typeface="Calibri"/>
              </a:rPr>
              <a:t>Walk-forward validation needs weeks of real history — the pipeline exists, training doesn't yet.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194560"/>
            <a:ext cx="3502152" cy="2103120"/>
          </a:xfrm>
          <a:prstGeom prst="roundRect">
            <a:avLst>
              <a:gd name="adj" fmla="val 6000"/>
            </a:avLst>
          </a:prstGeom>
          <a:solidFill>
            <a:srgbClr val="F2EFE7"/>
          </a:solidFill>
          <a:ln w="12700">
            <a:solidFill>
              <a:srgbClr val="E7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5424" y="2322576"/>
            <a:ext cx="3172968" cy="1847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 spc="60">
                <a:solidFill>
                  <a:srgbClr val="9A2323"/>
                </a:solidFill>
                <a:latin typeface="Consolas"/>
              </a:rPr>
              <a:t>MARKET DATA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Awaiting a provider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5B584F"/>
                </a:solidFill>
                <a:latin typeface="Calibri"/>
              </a:rPr>
              <a:t>Entity-to-ticker resolution and event-study math need a real market data source chosen first.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2194560"/>
            <a:ext cx="3502152" cy="2103120"/>
          </a:xfrm>
          <a:prstGeom prst="roundRect">
            <a:avLst>
              <a:gd name="adj" fmla="val 6000"/>
            </a:avLst>
          </a:prstGeom>
          <a:solidFill>
            <a:srgbClr val="F2EFE7"/>
          </a:solidFill>
          <a:ln w="12700">
            <a:solidFill>
              <a:srgbClr val="E7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66176" y="2322576"/>
            <a:ext cx="3172968" cy="1847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 spc="60">
                <a:solidFill>
                  <a:srgbClr val="9A2323"/>
                </a:solidFill>
                <a:latin typeface="Consolas"/>
              </a:rPr>
              <a:t>FACT-CHECK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Deferred by design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5B584F"/>
                </a:solidFill>
                <a:latin typeface="Calibri"/>
              </a:rPr>
              <a:t>Verifying claims needs a real search API and careful claim-handling — not a careless LLM verdict.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8B8778"/>
                </a:solidFill>
                <a:latin typeface="Consolas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40080" y="384048"/>
            <a:ext cx="10911535" cy="0"/>
          </a:xfrm>
          <a:prstGeom prst="line">
            <a:avLst/>
          </a:prstGeom>
          <a:ln w="1905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1280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 spc="90">
                <a:solidFill>
                  <a:srgbClr val="5B584F"/>
                </a:solidFill>
                <a:latin typeface="Consolas"/>
              </a:rPr>
              <a:t>THE NEWS RESEARCH TOOL — PROJECT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12801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spc="90">
                <a:solidFill>
                  <a:srgbClr val="9A2323"/>
                </a:solidFill>
                <a:latin typeface="Consolas"/>
              </a:rPr>
              <a:t>COLOPHON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 spc="120">
                <a:solidFill>
                  <a:srgbClr val="9A2323"/>
                </a:solidFill>
                <a:latin typeface="Consolas"/>
              </a:rPr>
              <a:t>COLOPHON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A1A1A"/>
                </a:solidFill>
                <a:latin typeface="Georgia"/>
              </a:rPr>
              <a:t>By the numbers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148840"/>
            <a:ext cx="0" cy="1234440"/>
          </a:xfrm>
          <a:prstGeom prst="line">
            <a:avLst/>
          </a:prstGeom>
          <a:ln w="38100">
            <a:solidFill>
              <a:srgbClr val="9A23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04672" y="2148840"/>
            <a:ext cx="333756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3200" b="1" i="0">
                <a:solidFill>
                  <a:srgbClr val="1A1A1A"/>
                </a:solidFill>
                <a:latin typeface="Consolas"/>
              </a:rPr>
              <a:t>4</a:t>
            </a:r>
          </a:p>
          <a:p>
            <a:pPr>
              <a:lnSpc>
                <a:spcPct val="125000"/>
              </a:lnSpc>
            </a:pPr>
            <a:r>
              <a:rPr sz="1150" b="0" i="0">
                <a:solidFill>
                  <a:srgbClr val="5B584F"/>
                </a:solidFill>
                <a:latin typeface="Calibri"/>
              </a:rPr>
              <a:t>news providers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70832" y="2148840"/>
            <a:ext cx="0" cy="1234440"/>
          </a:xfrm>
          <a:prstGeom prst="line">
            <a:avLst/>
          </a:prstGeom>
          <a:ln w="38100">
            <a:solidFill>
              <a:srgbClr val="9A23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35424" y="2148840"/>
            <a:ext cx="333756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3200" b="1" i="0">
                <a:solidFill>
                  <a:srgbClr val="1A1A1A"/>
                </a:solidFill>
                <a:latin typeface="Consolas"/>
              </a:rPr>
              <a:t>3</a:t>
            </a:r>
          </a:p>
          <a:p>
            <a:pPr>
              <a:lnSpc>
                <a:spcPct val="125000"/>
              </a:lnSpc>
            </a:pPr>
            <a:r>
              <a:rPr sz="1150" b="0" i="0">
                <a:solidFill>
                  <a:srgbClr val="5B584F"/>
                </a:solidFill>
                <a:latin typeface="Calibri"/>
              </a:rPr>
              <a:t>dedup levels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101584" y="2148840"/>
            <a:ext cx="0" cy="1234440"/>
          </a:xfrm>
          <a:prstGeom prst="line">
            <a:avLst/>
          </a:prstGeom>
          <a:ln w="38100">
            <a:solidFill>
              <a:srgbClr val="9A23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66176" y="2148840"/>
            <a:ext cx="333756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3200" b="1" i="0">
                <a:solidFill>
                  <a:srgbClr val="1A1A1A"/>
                </a:solidFill>
                <a:latin typeface="Consolas"/>
              </a:rPr>
              <a:t>6</a:t>
            </a:r>
          </a:p>
          <a:p>
            <a:pPr>
              <a:lnSpc>
                <a:spcPct val="125000"/>
              </a:lnSpc>
            </a:pPr>
            <a:r>
              <a:rPr sz="1150" b="0" i="0">
                <a:solidFill>
                  <a:srgbClr val="5B584F"/>
                </a:solidFill>
                <a:latin typeface="Calibri"/>
              </a:rPr>
              <a:t>product sections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3703320"/>
            <a:ext cx="0" cy="1234440"/>
          </a:xfrm>
          <a:prstGeom prst="line">
            <a:avLst/>
          </a:prstGeom>
          <a:ln w="38100">
            <a:solidFill>
              <a:srgbClr val="9A23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04672" y="3703320"/>
            <a:ext cx="333756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3200" b="1" i="0">
                <a:solidFill>
                  <a:srgbClr val="1A1A1A"/>
                </a:solidFill>
                <a:latin typeface="Consolas"/>
              </a:rPr>
              <a:t>161</a:t>
            </a:r>
          </a:p>
          <a:p>
            <a:pPr>
              <a:lnSpc>
                <a:spcPct val="125000"/>
              </a:lnSpc>
            </a:pPr>
            <a:r>
              <a:rPr sz="1150" b="0" i="0">
                <a:solidFill>
                  <a:srgbClr val="5B584F"/>
                </a:solidFill>
                <a:latin typeface="Calibri"/>
              </a:rPr>
              <a:t>automated tests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70832" y="3703320"/>
            <a:ext cx="0" cy="1234440"/>
          </a:xfrm>
          <a:prstGeom prst="line">
            <a:avLst/>
          </a:prstGeom>
          <a:ln w="38100">
            <a:solidFill>
              <a:srgbClr val="9A23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35424" y="3703320"/>
            <a:ext cx="333756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3200" b="1" i="0">
                <a:solidFill>
                  <a:srgbClr val="1A1A1A"/>
                </a:solidFill>
                <a:latin typeface="Consolas"/>
              </a:rPr>
              <a:t>13</a:t>
            </a:r>
          </a:p>
          <a:p>
            <a:pPr>
              <a:lnSpc>
                <a:spcPct val="125000"/>
              </a:lnSpc>
            </a:pPr>
            <a:r>
              <a:rPr sz="1150" b="0" i="0">
                <a:solidFill>
                  <a:srgbClr val="5B584F"/>
                </a:solidFill>
                <a:latin typeface="Calibri"/>
              </a:rPr>
              <a:t>documentation files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01584" y="3703320"/>
            <a:ext cx="0" cy="1234440"/>
          </a:xfrm>
          <a:prstGeom prst="line">
            <a:avLst/>
          </a:prstGeom>
          <a:ln w="38100">
            <a:solidFill>
              <a:srgbClr val="9A23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66176" y="3703320"/>
            <a:ext cx="333756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3200" b="1" i="0">
                <a:solidFill>
                  <a:srgbClr val="1A1A1A"/>
                </a:solidFill>
                <a:latin typeface="Consolas"/>
              </a:rPr>
              <a:t>5.4k</a:t>
            </a:r>
          </a:p>
          <a:p>
            <a:pPr>
              <a:lnSpc>
                <a:spcPct val="125000"/>
              </a:lnSpc>
            </a:pPr>
            <a:r>
              <a:rPr sz="1150" b="0" i="0">
                <a:solidFill>
                  <a:srgbClr val="5B584F"/>
                </a:solidFill>
                <a:latin typeface="Calibri"/>
              </a:rPr>
              <a:t>lines of 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93776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500" b="0" i="0">
                <a:solidFill>
                  <a:srgbClr val="5B584F"/>
                </a:solidFill>
                <a:latin typeface="Calibri"/>
              </a:rPr>
              <a:t>From a four-file tutorial to a platform that ingests, cleans, clusters, reads, scores, and explains the news. Thank you.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8B8778"/>
                </a:solidFill>
                <a:latin typeface="Consolas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1627</Words>
  <Application>Microsoft Office PowerPoint</Application>
  <PresentationFormat>Widescreen</PresentationFormat>
  <Paragraphs>231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ARKO</dc:creator>
  <cp:keywords/>
  <dc:description>generated using python-pptx</dc:description>
  <cp:lastModifiedBy>Subharshi Das Purkayastha</cp:lastModifiedBy>
  <cp:revision>2</cp:revision>
  <dcterms:created xsi:type="dcterms:W3CDTF">2013-01-27T09:14:16Z</dcterms:created>
  <dcterms:modified xsi:type="dcterms:W3CDTF">2026-09-14T22:19:32Z</dcterms:modified>
  <cp:category/>
</cp:coreProperties>
</file>